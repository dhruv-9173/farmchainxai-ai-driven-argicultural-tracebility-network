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88355-A836-40B5-A628-6C5684C2E52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A66C9-A0FF-4674-AE1D-7B75881A9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42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A66C9-A0FF-4674-AE1D-7B75881A923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43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81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17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24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3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78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7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23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36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19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9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0418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28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390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38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745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59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D7A18-6B4D-4B94-8BAE-FCA07F40BF6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FEC8DA3-BED5-4A17-93A6-58936F69C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10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E0A55-8202-4D9A-9173-A5EDEC9CB0BB}"/>
              </a:ext>
            </a:extLst>
          </p:cNvPr>
          <p:cNvSpPr txBox="1"/>
          <p:nvPr/>
        </p:nvSpPr>
        <p:spPr>
          <a:xfrm>
            <a:off x="1673352" y="256032"/>
            <a:ext cx="8476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err="1">
                <a:solidFill>
                  <a:schemeClr val="accent6"/>
                </a:solidFill>
              </a:rPr>
              <a:t>FarmChainX</a:t>
            </a:r>
            <a:r>
              <a:rPr lang="en-US" sz="2800" b="1" u="sng" dirty="0">
                <a:solidFill>
                  <a:schemeClr val="accent6"/>
                </a:solidFill>
              </a:rPr>
              <a:t> AI Driven Agricultural Traceability Network</a:t>
            </a:r>
            <a:endParaRPr lang="en-IN" sz="4000" b="1" u="sng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5067E-9B0F-A76F-5943-6E18F51907A2}"/>
              </a:ext>
            </a:extLst>
          </p:cNvPr>
          <p:cNvSpPr txBox="1"/>
          <p:nvPr/>
        </p:nvSpPr>
        <p:spPr>
          <a:xfrm>
            <a:off x="146304" y="1106424"/>
            <a:ext cx="562356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75000"/>
                  </a:schemeClr>
                </a:solidFill>
              </a:rPr>
              <a:t>Problems:</a:t>
            </a:r>
          </a:p>
          <a:p>
            <a:r>
              <a:rPr lang="en-US" sz="2000" b="1" dirty="0"/>
              <a:t>1. No End-to-End Traceability</a:t>
            </a:r>
          </a:p>
          <a:p>
            <a:r>
              <a:rPr lang="en-US" sz="2000" dirty="0"/>
              <a:t>Once crops are mixed, origin is lost.</a:t>
            </a:r>
          </a:p>
          <a:p>
            <a:r>
              <a:rPr lang="en-US" sz="2000" b="1" dirty="0"/>
              <a:t>2. Paper-Based or Siloed Records</a:t>
            </a:r>
          </a:p>
          <a:p>
            <a:r>
              <a:rPr lang="en-US" sz="2000" dirty="0"/>
              <a:t>Data is: Manual, Fragmented, Not standardized</a:t>
            </a:r>
          </a:p>
          <a:p>
            <a:r>
              <a:rPr lang="en-US" sz="2000" dirty="0"/>
              <a:t>Risk of Food Adulteration</a:t>
            </a:r>
          </a:p>
          <a:p>
            <a:r>
              <a:rPr lang="en-US" sz="2000" b="1" dirty="0"/>
              <a:t>3. No Real-Time Monitoring</a:t>
            </a:r>
          </a:p>
          <a:p>
            <a:r>
              <a:rPr lang="en-US" sz="2000" dirty="0"/>
              <a:t>Temperature, humidity, spoilage risk — not tracked continuously.</a:t>
            </a:r>
          </a:p>
          <a:p>
            <a:r>
              <a:rPr lang="en-US" sz="2000" b="1" dirty="0"/>
              <a:t>4. Delayed Recall</a:t>
            </a:r>
          </a:p>
          <a:p>
            <a:r>
              <a:rPr lang="en-US" sz="2000" dirty="0"/>
              <a:t>If contaminated food is found:</a:t>
            </a:r>
          </a:p>
          <a:p>
            <a:r>
              <a:rPr lang="en-US" sz="2000" dirty="0"/>
              <a:t>It takes days or weeks to trace source.</a:t>
            </a:r>
          </a:p>
          <a:p>
            <a:r>
              <a:rPr lang="en-US" sz="2000" dirty="0"/>
              <a:t>Huge economic loss.</a:t>
            </a:r>
          </a:p>
          <a:p>
            <a:r>
              <a:rPr lang="en-US" sz="2000" b="1" dirty="0"/>
              <a:t>5. Farmer Exploitation</a:t>
            </a:r>
          </a:p>
          <a:p>
            <a:r>
              <a:rPr lang="en-US" sz="2000" dirty="0"/>
              <a:t>Lack of price transparency</a:t>
            </a:r>
          </a:p>
          <a:p>
            <a:r>
              <a:rPr lang="en-US" sz="2000" dirty="0"/>
              <a:t>Middlemen dominance</a:t>
            </a: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445D1-BF05-FE3A-215E-A8ED86A71710}"/>
              </a:ext>
            </a:extLst>
          </p:cNvPr>
          <p:cNvSpPr txBox="1"/>
          <p:nvPr/>
        </p:nvSpPr>
        <p:spPr>
          <a:xfrm>
            <a:off x="5138928" y="1097280"/>
            <a:ext cx="619963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</a:t>
            </a:r>
            <a:r>
              <a:rPr lang="en-US" sz="2400" b="1" u="sng" dirty="0">
                <a:solidFill>
                  <a:schemeClr val="accent6"/>
                </a:solidFill>
              </a:rPr>
              <a:t>Agriculture Supply Chain</a:t>
            </a:r>
          </a:p>
          <a:p>
            <a:endParaRPr lang="en-US" sz="2400" b="1" u="sng" dirty="0">
              <a:solidFill>
                <a:schemeClr val="accent6"/>
              </a:solidFill>
            </a:endParaRPr>
          </a:p>
          <a:p>
            <a:endParaRPr lang="en-US" sz="2400" b="1" u="sng" dirty="0">
              <a:solidFill>
                <a:schemeClr val="accent6"/>
              </a:solidFill>
            </a:endParaRPr>
          </a:p>
          <a:p>
            <a:r>
              <a:rPr lang="en-US" sz="2400" dirty="0">
                <a:solidFill>
                  <a:schemeClr val="accent6"/>
                </a:solidFill>
              </a:rPr>
              <a:t>						</a:t>
            </a:r>
            <a:r>
              <a:rPr lang="en-US" sz="2400" b="1" dirty="0">
                <a:solidFill>
                  <a:schemeClr val="accent6"/>
                </a:solidFill>
              </a:rPr>
              <a:t>Farmers</a:t>
            </a:r>
          </a:p>
          <a:p>
            <a:endParaRPr lang="en-US" sz="2400" b="1" dirty="0">
              <a:solidFill>
                <a:schemeClr val="accent6"/>
              </a:solidFill>
            </a:endParaRPr>
          </a:p>
          <a:p>
            <a:endParaRPr lang="en-US" sz="2400" b="1" dirty="0">
              <a:solidFill>
                <a:schemeClr val="accent6"/>
              </a:solidFill>
            </a:endParaRPr>
          </a:p>
          <a:p>
            <a:r>
              <a:rPr lang="en-US" sz="2400" b="1" dirty="0">
                <a:solidFill>
                  <a:schemeClr val="accent6"/>
                </a:solidFill>
              </a:rPr>
              <a:t>		    				Middlemen</a:t>
            </a:r>
          </a:p>
          <a:p>
            <a:endParaRPr lang="en-US" sz="2400" b="1" dirty="0">
              <a:solidFill>
                <a:schemeClr val="accent6"/>
              </a:solidFill>
            </a:endParaRPr>
          </a:p>
          <a:p>
            <a:r>
              <a:rPr lang="en-US" sz="2400" b="1" dirty="0">
                <a:solidFill>
                  <a:schemeClr val="accent6"/>
                </a:solidFill>
              </a:rPr>
              <a:t>			</a:t>
            </a:r>
          </a:p>
          <a:p>
            <a:r>
              <a:rPr lang="en-US" sz="2400" b="1" dirty="0">
                <a:solidFill>
                  <a:schemeClr val="accent6"/>
                </a:solidFill>
              </a:rPr>
              <a:t>						Retailer</a:t>
            </a:r>
          </a:p>
          <a:p>
            <a:endParaRPr lang="en-US" sz="2400" b="1" dirty="0">
              <a:solidFill>
                <a:schemeClr val="accent6"/>
              </a:solidFill>
            </a:endParaRPr>
          </a:p>
          <a:p>
            <a:r>
              <a:rPr lang="en-US" sz="2400" b="1" dirty="0">
                <a:solidFill>
                  <a:schemeClr val="accent6"/>
                </a:solidFill>
              </a:rPr>
              <a:t>			</a:t>
            </a:r>
          </a:p>
          <a:p>
            <a:r>
              <a:rPr lang="en-US" sz="2400" b="1" dirty="0">
                <a:solidFill>
                  <a:schemeClr val="accent6"/>
                </a:solidFill>
              </a:rPr>
              <a:t>						Consumer</a:t>
            </a:r>
          </a:p>
          <a:p>
            <a:endParaRPr lang="en-US" sz="2400" dirty="0"/>
          </a:p>
          <a:p>
            <a:endParaRPr lang="en-IN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594FD940-988A-EAFF-AB4B-2BB12B8F9E7A}"/>
              </a:ext>
            </a:extLst>
          </p:cNvPr>
          <p:cNvSpPr/>
          <p:nvPr/>
        </p:nvSpPr>
        <p:spPr>
          <a:xfrm>
            <a:off x="8389620" y="2675619"/>
            <a:ext cx="438912" cy="5232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5645E12-C89A-9032-EC9D-62F5616872FE}"/>
              </a:ext>
            </a:extLst>
          </p:cNvPr>
          <p:cNvSpPr/>
          <p:nvPr/>
        </p:nvSpPr>
        <p:spPr>
          <a:xfrm>
            <a:off x="8389620" y="3799469"/>
            <a:ext cx="521208" cy="55842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8CA40E7-2CC5-6396-F7E6-B136377C15CC}"/>
              </a:ext>
            </a:extLst>
          </p:cNvPr>
          <p:cNvSpPr/>
          <p:nvPr/>
        </p:nvSpPr>
        <p:spPr>
          <a:xfrm>
            <a:off x="8398764" y="4958526"/>
            <a:ext cx="512064" cy="52322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22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AEBDD-AE76-6FD6-3CED-C119BB2D41F2}"/>
              </a:ext>
            </a:extLst>
          </p:cNvPr>
          <p:cNvSpPr txBox="1"/>
          <p:nvPr/>
        </p:nvSpPr>
        <p:spPr>
          <a:xfrm>
            <a:off x="484632" y="182880"/>
            <a:ext cx="7991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6"/>
                </a:solidFill>
              </a:rPr>
              <a:t>ARCHITECTURE DIAGRAM</a:t>
            </a:r>
            <a:endParaRPr lang="en-IN" sz="2000" b="1" u="sng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838DEB-55A4-CE12-367A-85BC3FB44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55" y="688388"/>
            <a:ext cx="10287000" cy="598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25F93B-FFA0-5D2B-154E-59E7E4A41177}"/>
              </a:ext>
            </a:extLst>
          </p:cNvPr>
          <p:cNvSpPr txBox="1"/>
          <p:nvPr/>
        </p:nvSpPr>
        <p:spPr>
          <a:xfrm>
            <a:off x="109728" y="109728"/>
            <a:ext cx="4882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accent6"/>
                </a:solidFill>
              </a:rPr>
              <a:t>USECASE DIAGRAM</a:t>
            </a:r>
            <a:endParaRPr lang="en-IN" sz="2000" b="1" u="sng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57C72-9348-8B85-64C9-ED2D862A0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176" y="43494"/>
            <a:ext cx="6520569" cy="68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D01590-FE54-2478-7BD3-081D8DFFFB64}"/>
              </a:ext>
            </a:extLst>
          </p:cNvPr>
          <p:cNvSpPr txBox="1"/>
          <p:nvPr/>
        </p:nvSpPr>
        <p:spPr>
          <a:xfrm>
            <a:off x="265176" y="228600"/>
            <a:ext cx="3218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Modules</a:t>
            </a:r>
            <a:endParaRPr lang="en-IN" sz="2400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E241B-2ADA-1393-4D12-BFA31FFBF51C}"/>
              </a:ext>
            </a:extLst>
          </p:cNvPr>
          <p:cNvSpPr txBox="1"/>
          <p:nvPr/>
        </p:nvSpPr>
        <p:spPr>
          <a:xfrm>
            <a:off x="265176" y="1097280"/>
            <a:ext cx="43616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1. Authentication &amp; Authorization Module</a:t>
            </a:r>
          </a:p>
          <a:p>
            <a:endParaRPr lang="en-IN" b="1" u="sng" dirty="0"/>
          </a:p>
          <a:p>
            <a:r>
              <a:rPr lang="en-IN" b="1" u="sng" dirty="0"/>
              <a:t>Purpose</a:t>
            </a:r>
            <a:r>
              <a:rPr lang="en-IN" b="1" dirty="0"/>
              <a:t>:</a:t>
            </a:r>
            <a:r>
              <a:rPr lang="en-IN" dirty="0"/>
              <a:t> Secure system access</a:t>
            </a:r>
          </a:p>
          <a:p>
            <a:endParaRPr lang="en-IN" b="1" u="sng" dirty="0"/>
          </a:p>
          <a:p>
            <a:r>
              <a:rPr lang="en-IN" b="1" u="sng" dirty="0"/>
              <a:t>Responsibilities</a:t>
            </a:r>
            <a:r>
              <a:rPr lang="en-IN" dirty="0"/>
              <a:t>:</a:t>
            </a:r>
          </a:p>
          <a:p>
            <a:r>
              <a:rPr lang="en-IN" dirty="0"/>
              <a:t>User registration</a:t>
            </a:r>
          </a:p>
          <a:p>
            <a:r>
              <a:rPr lang="en-IN" dirty="0"/>
              <a:t>Login</a:t>
            </a:r>
          </a:p>
          <a:p>
            <a:r>
              <a:rPr lang="en-IN" dirty="0"/>
              <a:t>JWT generation</a:t>
            </a:r>
          </a:p>
          <a:p>
            <a:r>
              <a:rPr lang="en-IN" dirty="0"/>
              <a:t>Role-based access control</a:t>
            </a:r>
          </a:p>
          <a:p>
            <a:r>
              <a:rPr lang="en-IN" dirty="0"/>
              <a:t>Password encryption</a:t>
            </a:r>
          </a:p>
          <a:p>
            <a:r>
              <a:rPr lang="en-IN" dirty="0"/>
              <a:t>Token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E159A-540F-6BCF-3B70-45B159CA56A3}"/>
              </a:ext>
            </a:extLst>
          </p:cNvPr>
          <p:cNvSpPr txBox="1"/>
          <p:nvPr/>
        </p:nvSpPr>
        <p:spPr>
          <a:xfrm>
            <a:off x="5173982" y="1097280"/>
            <a:ext cx="4782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2. User Management Module</a:t>
            </a:r>
          </a:p>
          <a:p>
            <a:endParaRPr lang="en-US" b="1" dirty="0"/>
          </a:p>
          <a:p>
            <a:r>
              <a:rPr lang="en-US" b="1" u="sng" dirty="0"/>
              <a:t>Purpose</a:t>
            </a:r>
            <a:r>
              <a:rPr lang="en-US" b="1" dirty="0"/>
              <a:t>:</a:t>
            </a:r>
            <a:r>
              <a:rPr lang="en-US" dirty="0"/>
              <a:t> Manage system users</a:t>
            </a:r>
          </a:p>
          <a:p>
            <a:endParaRPr lang="en-US" dirty="0"/>
          </a:p>
          <a:p>
            <a:r>
              <a:rPr lang="en-US" b="1" u="sng" dirty="0"/>
              <a:t>Responsibilities</a:t>
            </a:r>
            <a:r>
              <a:rPr lang="en-US" dirty="0"/>
              <a:t>:</a:t>
            </a:r>
          </a:p>
          <a:p>
            <a:r>
              <a:rPr lang="en-US" dirty="0"/>
              <a:t>Create users</a:t>
            </a:r>
          </a:p>
          <a:p>
            <a:r>
              <a:rPr lang="en-US" dirty="0"/>
              <a:t>Update profile</a:t>
            </a:r>
          </a:p>
          <a:p>
            <a:r>
              <a:rPr lang="en-US" dirty="0"/>
              <a:t>Fetch users</a:t>
            </a:r>
          </a:p>
          <a:p>
            <a:r>
              <a:rPr lang="en-US" dirty="0"/>
              <a:t>Admin user control</a:t>
            </a:r>
          </a:p>
          <a:p>
            <a:r>
              <a:rPr lang="en-US" dirty="0"/>
              <a:t>Activate/Deactivate accounts</a:t>
            </a:r>
          </a:p>
        </p:txBody>
      </p:sp>
    </p:spTree>
    <p:extLst>
      <p:ext uri="{BB962C8B-B14F-4D97-AF65-F5344CB8AC3E}">
        <p14:creationId xmlns:p14="http://schemas.microsoft.com/office/powerpoint/2010/main" val="380757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0C63CE-D71C-960D-8733-E5097AD15167}"/>
              </a:ext>
            </a:extLst>
          </p:cNvPr>
          <p:cNvSpPr txBox="1"/>
          <p:nvPr/>
        </p:nvSpPr>
        <p:spPr>
          <a:xfrm>
            <a:off x="118872" y="228600"/>
            <a:ext cx="42976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3. Batch Management Module</a:t>
            </a:r>
          </a:p>
          <a:p>
            <a:endParaRPr lang="en-US" b="1" dirty="0"/>
          </a:p>
          <a:p>
            <a:r>
              <a:rPr lang="en-US" b="1" u="sng" dirty="0"/>
              <a:t>Purpose:</a:t>
            </a:r>
            <a:r>
              <a:rPr lang="en-US" u="sng" dirty="0"/>
              <a:t> </a:t>
            </a:r>
            <a:r>
              <a:rPr lang="en-US" dirty="0"/>
              <a:t>Core business module</a:t>
            </a:r>
          </a:p>
          <a:p>
            <a:endParaRPr lang="en-US" dirty="0"/>
          </a:p>
          <a:p>
            <a:r>
              <a:rPr lang="en-US" b="1" u="sng" dirty="0"/>
              <a:t>Responsibilities:</a:t>
            </a:r>
          </a:p>
          <a:p>
            <a:r>
              <a:rPr lang="en-US" dirty="0"/>
              <a:t>Create batch</a:t>
            </a:r>
          </a:p>
          <a:p>
            <a:r>
              <a:rPr lang="en-US" dirty="0"/>
              <a:t>Update batch</a:t>
            </a:r>
          </a:p>
          <a:p>
            <a:r>
              <a:rPr lang="en-US" dirty="0"/>
              <a:t>Fetch batch details</a:t>
            </a:r>
          </a:p>
          <a:p>
            <a:r>
              <a:rPr lang="en-US" dirty="0"/>
              <a:t>Assign ownership</a:t>
            </a:r>
          </a:p>
          <a:p>
            <a:r>
              <a:rPr lang="en-US" dirty="0"/>
              <a:t>Store AI prediction results</a:t>
            </a:r>
          </a:p>
          <a:p>
            <a:r>
              <a:rPr lang="en-US" dirty="0"/>
              <a:t>Store image URL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4EEE3-AC1F-5BD7-D0B8-112360594AA2}"/>
              </a:ext>
            </a:extLst>
          </p:cNvPr>
          <p:cNvSpPr txBox="1"/>
          <p:nvPr/>
        </p:nvSpPr>
        <p:spPr>
          <a:xfrm>
            <a:off x="5175504" y="384048"/>
            <a:ext cx="42976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4. Supply Chain Tracking Module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u="sng" dirty="0"/>
              <a:t>Purpose</a:t>
            </a:r>
            <a:r>
              <a:rPr lang="en-US" b="1" dirty="0"/>
              <a:t>:</a:t>
            </a:r>
            <a:r>
              <a:rPr lang="en-US" dirty="0"/>
              <a:t> Track movement of goods</a:t>
            </a:r>
          </a:p>
          <a:p>
            <a:endParaRPr lang="en-US" b="1" u="sng" dirty="0"/>
          </a:p>
          <a:p>
            <a:r>
              <a:rPr lang="en-US" b="1" u="sng" dirty="0"/>
              <a:t>Responsibilities:</a:t>
            </a:r>
          </a:p>
          <a:p>
            <a:r>
              <a:rPr lang="en-US" dirty="0"/>
              <a:t>Transfer batch (Farmer → Distributor)</a:t>
            </a:r>
          </a:p>
          <a:p>
            <a:r>
              <a:rPr lang="en-US" dirty="0"/>
              <a:t>Accept transfer</a:t>
            </a:r>
          </a:p>
          <a:p>
            <a:r>
              <a:rPr lang="en-US" dirty="0"/>
              <a:t>Transfer to retailer</a:t>
            </a:r>
          </a:p>
          <a:p>
            <a:r>
              <a:rPr lang="en-US" dirty="0"/>
              <a:t>Maintain transfer logs</a:t>
            </a:r>
          </a:p>
          <a:p>
            <a:r>
              <a:rPr lang="en-US" dirty="0"/>
              <a:t>Update batch status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FC187-25C6-4F83-B2BD-7AD9DE91F92A}"/>
              </a:ext>
            </a:extLst>
          </p:cNvPr>
          <p:cNvSpPr txBox="1"/>
          <p:nvPr/>
        </p:nvSpPr>
        <p:spPr>
          <a:xfrm>
            <a:off x="201168" y="3644920"/>
            <a:ext cx="42153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5. QR Code Module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u="sng" dirty="0"/>
              <a:t>Purpose</a:t>
            </a:r>
            <a:r>
              <a:rPr lang="en-US" b="1" dirty="0"/>
              <a:t>:</a:t>
            </a:r>
            <a:r>
              <a:rPr lang="en-US" dirty="0"/>
              <a:t> Public transparency</a:t>
            </a:r>
          </a:p>
          <a:p>
            <a:endParaRPr lang="en-US" dirty="0"/>
          </a:p>
          <a:p>
            <a:r>
              <a:rPr lang="en-US" b="1" u="sng" dirty="0"/>
              <a:t>Responsibilities:</a:t>
            </a:r>
          </a:p>
          <a:p>
            <a:r>
              <a:rPr lang="en-US" dirty="0"/>
              <a:t>Generate QR code</a:t>
            </a:r>
          </a:p>
          <a:p>
            <a:r>
              <a:rPr lang="en-US" dirty="0"/>
              <a:t>Map QR → Batch ID</a:t>
            </a:r>
          </a:p>
          <a:p>
            <a:r>
              <a:rPr lang="en-US" dirty="0"/>
              <a:t>Provide public endpoint</a:t>
            </a:r>
          </a:p>
          <a:p>
            <a:r>
              <a:rPr lang="en-US" dirty="0"/>
              <a:t>Return batch details</a:t>
            </a:r>
          </a:p>
          <a:p>
            <a:r>
              <a:rPr lang="en-US" dirty="0"/>
              <a:t>Used by: Consumer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7AD81-0568-1349-1E2B-0F4A95EECAAD}"/>
              </a:ext>
            </a:extLst>
          </p:cNvPr>
          <p:cNvSpPr txBox="1"/>
          <p:nvPr/>
        </p:nvSpPr>
        <p:spPr>
          <a:xfrm>
            <a:off x="5175504" y="3712464"/>
            <a:ext cx="44256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6. AI Integration Module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u="sng" dirty="0"/>
              <a:t>Purpose</a:t>
            </a:r>
            <a:r>
              <a:rPr lang="en-US" b="1" dirty="0"/>
              <a:t>:</a:t>
            </a:r>
            <a:r>
              <a:rPr lang="en-US" dirty="0"/>
              <a:t> Connect backend to ML model</a:t>
            </a:r>
          </a:p>
          <a:p>
            <a:endParaRPr lang="en-US" dirty="0"/>
          </a:p>
          <a:p>
            <a:r>
              <a:rPr lang="en-US" b="1" u="sng" dirty="0"/>
              <a:t>Responsibilities:</a:t>
            </a:r>
          </a:p>
          <a:p>
            <a:r>
              <a:rPr lang="en-US" dirty="0"/>
              <a:t>Send batch data to ML model</a:t>
            </a:r>
          </a:p>
          <a:p>
            <a:r>
              <a:rPr lang="en-US" dirty="0"/>
              <a:t>Receive prediction</a:t>
            </a:r>
          </a:p>
          <a:p>
            <a:r>
              <a:rPr lang="en-US" dirty="0"/>
              <a:t>Store quality score</a:t>
            </a:r>
          </a:p>
          <a:p>
            <a:r>
              <a:rPr lang="en-US" dirty="0"/>
              <a:t>Store shelf-life estimate</a:t>
            </a:r>
          </a:p>
          <a:p>
            <a:r>
              <a:rPr lang="en-US" dirty="0"/>
              <a:t>Handle prediction errors</a:t>
            </a:r>
          </a:p>
        </p:txBody>
      </p:sp>
    </p:spTree>
    <p:extLst>
      <p:ext uri="{BB962C8B-B14F-4D97-AF65-F5344CB8AC3E}">
        <p14:creationId xmlns:p14="http://schemas.microsoft.com/office/powerpoint/2010/main" val="9976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1EF5F-75F1-FCE6-6BCA-F719AB5FAEA0}"/>
              </a:ext>
            </a:extLst>
          </p:cNvPr>
          <p:cNvSpPr txBox="1"/>
          <p:nvPr/>
        </p:nvSpPr>
        <p:spPr>
          <a:xfrm>
            <a:off x="91440" y="54864"/>
            <a:ext cx="38313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7. Analytics &amp; Reporting Module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u="sng" dirty="0"/>
              <a:t>Purpose</a:t>
            </a:r>
            <a:r>
              <a:rPr lang="en-US" b="1" dirty="0"/>
              <a:t>:</a:t>
            </a:r>
            <a:r>
              <a:rPr lang="en-US" dirty="0"/>
              <a:t> Admin dashboard insights</a:t>
            </a:r>
          </a:p>
          <a:p>
            <a:endParaRPr lang="en-US" dirty="0"/>
          </a:p>
          <a:p>
            <a:r>
              <a:rPr lang="en-US" b="1" u="sng" dirty="0"/>
              <a:t>Responsibilities:</a:t>
            </a:r>
          </a:p>
          <a:p>
            <a:r>
              <a:rPr lang="en-US" dirty="0"/>
              <a:t>Generate summary stats</a:t>
            </a:r>
          </a:p>
          <a:p>
            <a:r>
              <a:rPr lang="en-US" dirty="0"/>
              <a:t>Total batches</a:t>
            </a:r>
          </a:p>
          <a:p>
            <a:r>
              <a:rPr lang="en-US" dirty="0"/>
              <a:t>Spoilage rate</a:t>
            </a:r>
          </a:p>
          <a:p>
            <a:r>
              <a:rPr lang="en-US" dirty="0"/>
              <a:t>Transfer counts</a:t>
            </a:r>
          </a:p>
          <a:p>
            <a:r>
              <a:rPr lang="en-US" dirty="0"/>
              <a:t>AI average quality score</a:t>
            </a:r>
          </a:p>
          <a:p>
            <a:r>
              <a:rPr lang="en-US" dirty="0"/>
              <a:t>Generate reports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D400E-0053-C9A0-D947-42E705CA082B}"/>
              </a:ext>
            </a:extLst>
          </p:cNvPr>
          <p:cNvSpPr txBox="1"/>
          <p:nvPr/>
        </p:nvSpPr>
        <p:spPr>
          <a:xfrm>
            <a:off x="5303520" y="0"/>
            <a:ext cx="4773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8. NOTIFICATION MODULE</a:t>
            </a:r>
          </a:p>
          <a:p>
            <a:endParaRPr lang="en-US" b="1" dirty="0"/>
          </a:p>
          <a:p>
            <a:r>
              <a:rPr lang="en-US" b="1" dirty="0"/>
              <a:t> </a:t>
            </a:r>
            <a:r>
              <a:rPr lang="en-US" b="1" u="sng" dirty="0"/>
              <a:t>Purpose</a:t>
            </a:r>
          </a:p>
          <a:p>
            <a:r>
              <a:rPr lang="en-US" dirty="0"/>
              <a:t>To notify stakeholders when important events happen in the system.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Batch transferred</a:t>
            </a:r>
          </a:p>
          <a:p>
            <a:r>
              <a:rPr lang="en-US" dirty="0"/>
              <a:t>Batch accepted</a:t>
            </a:r>
          </a:p>
          <a:p>
            <a:r>
              <a:rPr lang="en-US" dirty="0"/>
              <a:t>Batch flagged</a:t>
            </a:r>
          </a:p>
          <a:p>
            <a:r>
              <a:rPr lang="en-US" dirty="0"/>
              <a:t>Prediction generated</a:t>
            </a:r>
          </a:p>
          <a:p>
            <a:r>
              <a:rPr lang="en-US" dirty="0"/>
              <a:t>Batch recalled (future)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00E4A-2EA3-E5DF-FA00-9352A405A540}"/>
              </a:ext>
            </a:extLst>
          </p:cNvPr>
          <p:cNvSpPr txBox="1"/>
          <p:nvPr/>
        </p:nvSpPr>
        <p:spPr>
          <a:xfrm>
            <a:off x="91440" y="3300377"/>
            <a:ext cx="62087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9. Blockchain Integration Module</a:t>
            </a:r>
            <a:endParaRPr lang="en-IN" b="1" dirty="0"/>
          </a:p>
          <a:p>
            <a:endParaRPr lang="en-IN" b="1" u="sng" dirty="0"/>
          </a:p>
          <a:p>
            <a:r>
              <a:rPr lang="en-IN" b="1" u="sng" dirty="0"/>
              <a:t>Purpose</a:t>
            </a:r>
            <a:r>
              <a:rPr lang="en-IN" b="1" dirty="0"/>
              <a:t>: </a:t>
            </a:r>
            <a:r>
              <a:rPr lang="en-IN" dirty="0"/>
              <a:t>Record immutable transaction proofs on blockchain.</a:t>
            </a:r>
          </a:p>
          <a:p>
            <a:endParaRPr lang="en-IN" b="1" dirty="0"/>
          </a:p>
          <a:p>
            <a:r>
              <a:rPr lang="en-IN" b="1" u="sng" dirty="0"/>
              <a:t>Responsibilities:</a:t>
            </a:r>
            <a:endParaRPr lang="en-IN" u="sng" dirty="0"/>
          </a:p>
          <a:p>
            <a:r>
              <a:rPr lang="en-IN" dirty="0"/>
              <a:t>Create blockchain transaction</a:t>
            </a:r>
          </a:p>
          <a:p>
            <a:r>
              <a:rPr lang="en-IN" dirty="0"/>
              <a:t>Store hash of transfer</a:t>
            </a:r>
          </a:p>
          <a:p>
            <a:r>
              <a:rPr lang="en-IN" dirty="0"/>
              <a:t>Interact with smart contract</a:t>
            </a:r>
          </a:p>
          <a:p>
            <a:r>
              <a:rPr lang="en-IN" dirty="0"/>
              <a:t>Verify blockchain record</a:t>
            </a:r>
          </a:p>
          <a:p>
            <a:r>
              <a:rPr lang="en-IN" dirty="0"/>
              <a:t>Store transaction hash in DB</a:t>
            </a:r>
          </a:p>
          <a:p>
            <a:r>
              <a:rPr lang="en-IN" dirty="0"/>
              <a:t>Handle blockchain errors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310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718</TotalTime>
  <Words>404</Words>
  <Application>Microsoft Office PowerPoint</Application>
  <PresentationFormat>Widescreen</PresentationFormat>
  <Paragraphs>127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Kumar</dc:creator>
  <cp:lastModifiedBy>Dhruv Kumar</cp:lastModifiedBy>
  <cp:revision>14</cp:revision>
  <dcterms:created xsi:type="dcterms:W3CDTF">2026-02-19T12:28:59Z</dcterms:created>
  <dcterms:modified xsi:type="dcterms:W3CDTF">2026-03-28T08:25:38Z</dcterms:modified>
</cp:coreProperties>
</file>